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C9A227"/>
                </a:solidFill>
                <a:latin typeface="Calibri"/>
              </a:rPr>
              <a:t>A Level · 招新 2026  |  数学历史 · Math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 dirty="0">
                <a:solidFill>
                  <a:srgbClr val="FFFFFF"/>
                </a:solidFill>
                <a:latin typeface="Georgia"/>
              </a:rPr>
              <a:t>E⁵ Math Club</a:t>
            </a:r>
          </a:p>
          <a:p>
            <a:pPr>
              <a:spcBef>
                <a:spcPts val="400"/>
              </a:spcBef>
            </a:pPr>
            <a:r>
              <a:rPr sz="3600" b="1" i="0" dirty="0">
                <a:solidFill>
                  <a:srgbClr val="E8D48A"/>
                </a:solidFill>
                <a:latin typeface="Microsoft YaHei"/>
              </a:rPr>
              <a:t>E⁵ </a:t>
            </a:r>
            <a:r>
              <a:rPr sz="3600" b="1" i="0" dirty="0" err="1">
                <a:solidFill>
                  <a:srgbClr val="E8D48A"/>
                </a:solidFill>
                <a:latin typeface="Microsoft YaHei"/>
              </a:rPr>
              <a:t>数学社</a:t>
            </a:r>
            <a:endParaRPr sz="3600" b="1" i="0" dirty="0">
              <a:solidFill>
                <a:srgbClr val="E8D48A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176272"/>
            <a:ext cx="7315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1" dirty="0">
                <a:solidFill>
                  <a:srgbClr val="E8D48A"/>
                </a:solidFill>
                <a:latin typeface="Georgia"/>
              </a:rPr>
              <a:t>Math Origins — Where Ideas Begin</a:t>
            </a:r>
          </a:p>
          <a:p>
            <a:pPr>
              <a:spcBef>
                <a:spcPts val="400"/>
              </a:spcBef>
            </a:pPr>
            <a:r>
              <a:rPr sz="1800" b="0" i="0" dirty="0" err="1">
                <a:solidFill>
                  <a:srgbClr val="EEF1F6"/>
                </a:solidFill>
                <a:latin typeface="Microsoft YaHei"/>
              </a:rPr>
              <a:t>数学起源</a:t>
            </a:r>
            <a:r>
              <a:rPr sz="1800" b="0" i="0" dirty="0">
                <a:solidFill>
                  <a:srgbClr val="EEF1F6"/>
                </a:solidFill>
                <a:latin typeface="Microsoft YaHei"/>
              </a:rPr>
              <a:t> — </a:t>
            </a:r>
            <a:r>
              <a:rPr sz="1800" b="0" i="0" dirty="0" err="1">
                <a:solidFill>
                  <a:srgbClr val="EEF1F6"/>
                </a:solidFill>
                <a:latin typeface="Microsoft YaHei"/>
              </a:rPr>
              <a:t>每一条定理，都有一段故事</a:t>
            </a:r>
            <a:endParaRPr sz="1800" b="0" i="0" dirty="0">
              <a:solidFill>
                <a:srgbClr val="EEF1F6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999232"/>
            <a:ext cx="77724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1">
                <a:solidFill>
                  <a:srgbClr val="FFFFFF"/>
                </a:solidFill>
                <a:latin typeface="Georgia"/>
              </a:rPr>
              <a:t>Who really invented calculus? Was √2 illegal?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4ECDC4"/>
                </a:solidFill>
                <a:latin typeface="Microsoft YaHei"/>
              </a:rPr>
              <a:t>微积分到底是谁发明的？√2 为什么让古希腊人崩溃？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C9A227"/>
                </a:solidFill>
                <a:latin typeface="Calibri"/>
              </a:rPr>
              <a:t>THE E⁵ WAY  </a:t>
            </a:r>
            <a:r>
              <a:rPr sz="1000" b="0" i="0">
                <a:solidFill>
                  <a:srgbClr val="4ECDC4"/>
                </a:solidFill>
                <a:latin typeface="Microsoft YaHei"/>
              </a:rPr>
              <a:t>我们的五个 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2148840" cy="960120"/>
          </a:xfrm>
          <a:prstGeom prst="roundRect">
            <a:avLst/>
          </a:prstGeom>
          <a:solidFill>
            <a:srgbClr val="153538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11280" y="4828032"/>
            <a:ext cx="823560" cy="9002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 dirty="0">
                <a:solidFill>
                  <a:srgbClr val="4ECDC4"/>
                </a:solidFill>
                <a:latin typeface="Georgia"/>
              </a:rPr>
              <a:t>E</a:t>
            </a:r>
          </a:p>
          <a:p>
            <a:pPr algn="ctr">
              <a:spcBef>
                <a:spcPts val="200"/>
              </a:spcBef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Explore</a:t>
            </a:r>
          </a:p>
          <a:p>
            <a:pPr algn="ctr">
              <a:spcBef>
                <a:spcPts val="100"/>
              </a:spcBef>
            </a:pPr>
            <a:r>
              <a:rPr sz="1000" b="0" i="0" dirty="0" err="1">
                <a:solidFill>
                  <a:srgbClr val="4ECDC4"/>
                </a:solidFill>
                <a:latin typeface="Microsoft YaHei"/>
              </a:rPr>
              <a:t>探索</a:t>
            </a:r>
            <a:endParaRPr sz="1000" b="0" i="0" dirty="0">
              <a:solidFill>
                <a:srgbClr val="4ECDC4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807208" y="4754880"/>
            <a:ext cx="2148840" cy="960120"/>
          </a:xfrm>
          <a:prstGeom prst="roundRect">
            <a:avLst/>
          </a:prstGeom>
          <a:solidFill>
            <a:srgbClr val="153538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87578" y="4828032"/>
            <a:ext cx="788101" cy="9002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 dirty="0">
                <a:solidFill>
                  <a:srgbClr val="4ECDC4"/>
                </a:solidFill>
                <a:latin typeface="Georgia"/>
              </a:rPr>
              <a:t>E</a:t>
            </a:r>
          </a:p>
          <a:p>
            <a:pPr algn="ctr">
              <a:spcBef>
                <a:spcPts val="200"/>
              </a:spcBef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Engage</a:t>
            </a:r>
          </a:p>
          <a:p>
            <a:pPr algn="ctr">
              <a:spcBef>
                <a:spcPts val="100"/>
              </a:spcBef>
            </a:pPr>
            <a:r>
              <a:rPr sz="1000" b="0" i="0" dirty="0" err="1">
                <a:solidFill>
                  <a:srgbClr val="4ECDC4"/>
                </a:solidFill>
                <a:latin typeface="Microsoft YaHei"/>
              </a:rPr>
              <a:t>参与</a:t>
            </a:r>
            <a:endParaRPr sz="1000" b="0" i="0" dirty="0">
              <a:solidFill>
                <a:srgbClr val="4ECDC4"/>
              </a:solidFill>
              <a:latin typeface="Microsoft YaHe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65776" y="4754880"/>
            <a:ext cx="2148840" cy="960120"/>
          </a:xfrm>
          <a:prstGeom prst="roundRect">
            <a:avLst/>
          </a:prstGeom>
          <a:solidFill>
            <a:srgbClr val="153538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49326" y="4828032"/>
            <a:ext cx="981744" cy="9002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 dirty="0">
                <a:solidFill>
                  <a:srgbClr val="4ECDC4"/>
                </a:solidFill>
                <a:latin typeface="Georgia"/>
              </a:rPr>
              <a:t>E</a:t>
            </a:r>
          </a:p>
          <a:p>
            <a:pPr algn="ctr">
              <a:spcBef>
                <a:spcPts val="200"/>
              </a:spcBef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Enlighten</a:t>
            </a:r>
          </a:p>
          <a:p>
            <a:pPr algn="ctr">
              <a:spcBef>
                <a:spcPts val="100"/>
              </a:spcBef>
            </a:pPr>
            <a:r>
              <a:rPr sz="1000" b="0" i="0" dirty="0" err="1">
                <a:solidFill>
                  <a:srgbClr val="4ECDC4"/>
                </a:solidFill>
                <a:latin typeface="Microsoft YaHei"/>
              </a:rPr>
              <a:t>启迪</a:t>
            </a:r>
            <a:endParaRPr sz="1000" b="0" i="0" dirty="0">
              <a:solidFill>
                <a:srgbClr val="4ECDC4"/>
              </a:solidFill>
              <a:latin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24344" y="4754880"/>
            <a:ext cx="2148840" cy="960120"/>
          </a:xfrm>
          <a:prstGeom prst="roundRect">
            <a:avLst/>
          </a:prstGeom>
          <a:solidFill>
            <a:srgbClr val="153538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85381" y="4828032"/>
            <a:ext cx="826766" cy="9002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 dirty="0">
                <a:solidFill>
                  <a:srgbClr val="4ECDC4"/>
                </a:solidFill>
                <a:latin typeface="Georgia"/>
              </a:rPr>
              <a:t>E</a:t>
            </a:r>
          </a:p>
          <a:p>
            <a:pPr algn="ctr">
              <a:spcBef>
                <a:spcPts val="200"/>
              </a:spcBef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Express</a:t>
            </a:r>
          </a:p>
          <a:p>
            <a:pPr algn="ctr">
              <a:spcBef>
                <a:spcPts val="100"/>
              </a:spcBef>
            </a:pPr>
            <a:r>
              <a:rPr sz="1000" b="0" i="0" dirty="0" err="1">
                <a:solidFill>
                  <a:srgbClr val="4ECDC4"/>
                </a:solidFill>
                <a:latin typeface="Microsoft YaHei"/>
              </a:rPr>
              <a:t>表达</a:t>
            </a:r>
            <a:endParaRPr sz="1000" b="0" i="0" dirty="0">
              <a:solidFill>
                <a:srgbClr val="4ECDC4"/>
              </a:solidFill>
              <a:latin typeface="Microsoft YaHe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582912" y="4754880"/>
            <a:ext cx="2148840" cy="960120"/>
          </a:xfrm>
          <a:prstGeom prst="roundRect">
            <a:avLst/>
          </a:prstGeom>
          <a:solidFill>
            <a:srgbClr val="153538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50934" y="4828032"/>
            <a:ext cx="612796" cy="9002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 dirty="0">
                <a:solidFill>
                  <a:srgbClr val="4ECDC4"/>
                </a:solidFill>
                <a:latin typeface="Georgia"/>
              </a:rPr>
              <a:t>E</a:t>
            </a:r>
          </a:p>
          <a:p>
            <a:pPr algn="ctr">
              <a:spcBef>
                <a:spcPts val="200"/>
              </a:spcBef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Excel</a:t>
            </a:r>
          </a:p>
          <a:p>
            <a:pPr algn="ctr">
              <a:spcBef>
                <a:spcPts val="100"/>
              </a:spcBef>
            </a:pPr>
            <a:r>
              <a:rPr sz="1000" b="0" i="0" dirty="0" err="1">
                <a:solidFill>
                  <a:srgbClr val="4ECDC4"/>
                </a:solidFill>
                <a:latin typeface="Microsoft YaHei"/>
              </a:rPr>
              <a:t>精进</a:t>
            </a:r>
            <a:endParaRPr sz="1000" b="0" i="0" dirty="0">
              <a:solidFill>
                <a:srgbClr val="4ECDC4"/>
              </a:solidFill>
              <a:latin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0" y="777240"/>
            <a:ext cx="1590500" cy="8233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</a:pPr>
            <a:r>
              <a:rPr sz="1000" b="1" i="0" dirty="0">
                <a:solidFill>
                  <a:srgbClr val="C9A227"/>
                </a:solidFill>
                <a:latin typeface="Calibri"/>
              </a:rPr>
              <a:t>When </a:t>
            </a:r>
            <a:r>
              <a:rPr sz="1000" b="1" i="0" dirty="0" err="1">
                <a:solidFill>
                  <a:srgbClr val="C9A227"/>
                </a:solidFill>
                <a:latin typeface="Calibri"/>
              </a:rPr>
              <a:t>时间</a:t>
            </a:r>
            <a:r>
              <a:rPr sz="1000" b="1" i="0" dirty="0">
                <a:solidFill>
                  <a:srgbClr val="C9A227"/>
                </a:solidFill>
                <a:latin typeface="Calibri"/>
              </a:rPr>
              <a:t>  </a:t>
            </a:r>
            <a:r>
              <a:rPr sz="1000" b="0" i="0" dirty="0">
                <a:solidFill>
                  <a:srgbClr val="A8B4C8"/>
                </a:solidFill>
                <a:latin typeface="Calibri"/>
              </a:rPr>
              <a:t>Every </a:t>
            </a:r>
            <a:r>
              <a:rPr lang="en-US" sz="1000" b="0" i="0" dirty="0">
                <a:solidFill>
                  <a:srgbClr val="A8B4C8"/>
                </a:solidFill>
                <a:latin typeface="Calibri"/>
              </a:rPr>
              <a:t>week</a:t>
            </a:r>
            <a:endParaRPr sz="1000" b="0" i="0" dirty="0">
              <a:solidFill>
                <a:srgbClr val="A8B4C8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1000" b="1" i="0" dirty="0">
                <a:solidFill>
                  <a:srgbClr val="C9A227"/>
                </a:solidFill>
                <a:latin typeface="Calibri"/>
              </a:rPr>
              <a:t>Where </a:t>
            </a:r>
            <a:r>
              <a:rPr sz="1000" b="1" i="0" dirty="0" err="1">
                <a:solidFill>
                  <a:srgbClr val="C9A227"/>
                </a:solidFill>
                <a:latin typeface="Calibri"/>
              </a:rPr>
              <a:t>地点</a:t>
            </a:r>
            <a:r>
              <a:rPr sz="1000" b="1" i="0" dirty="0">
                <a:solidFill>
                  <a:srgbClr val="C9A227"/>
                </a:solidFill>
                <a:latin typeface="Calibri"/>
              </a:rPr>
              <a:t>  </a:t>
            </a:r>
            <a:r>
              <a:rPr sz="1000" b="0" i="0" dirty="0">
                <a:solidFill>
                  <a:srgbClr val="A8B4C8"/>
                </a:solidFill>
                <a:latin typeface="Calibri"/>
              </a:rPr>
              <a:t>Room </a:t>
            </a:r>
            <a:r>
              <a:rPr lang="en-US" sz="1000" dirty="0">
                <a:solidFill>
                  <a:srgbClr val="A8B4C8"/>
                </a:solidFill>
                <a:latin typeface="Calibri"/>
              </a:rPr>
              <a:t>xxx</a:t>
            </a:r>
            <a:endParaRPr sz="1000" b="0" i="0" dirty="0">
              <a:solidFill>
                <a:srgbClr val="A8B4C8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1000" b="1" i="0" dirty="0">
                <a:solidFill>
                  <a:srgbClr val="C9A227"/>
                </a:solidFill>
                <a:latin typeface="Calibri"/>
              </a:rPr>
              <a:t>Open </a:t>
            </a:r>
            <a:r>
              <a:rPr sz="1000" b="1" i="0" dirty="0" err="1">
                <a:solidFill>
                  <a:srgbClr val="C9A227"/>
                </a:solidFill>
                <a:latin typeface="Calibri"/>
              </a:rPr>
              <a:t>面向</a:t>
            </a:r>
            <a:r>
              <a:rPr sz="1000" b="1" i="0" dirty="0">
                <a:solidFill>
                  <a:srgbClr val="C9A227"/>
                </a:solidFill>
                <a:latin typeface="Calibri"/>
              </a:rPr>
              <a:t>  </a:t>
            </a:r>
            <a:r>
              <a:rPr sz="1000" b="0" i="0" dirty="0">
                <a:solidFill>
                  <a:srgbClr val="A8B4C8"/>
                </a:solidFill>
                <a:latin typeface="Calibri"/>
              </a:rPr>
              <a:t>All year groups</a:t>
            </a:r>
          </a:p>
          <a:p>
            <a:pPr>
              <a:spcBef>
                <a:spcPts val="300"/>
              </a:spcBef>
            </a:pPr>
            <a:r>
              <a:rPr sz="1000" b="1" i="0" dirty="0">
                <a:solidFill>
                  <a:srgbClr val="C9A227"/>
                </a:solidFill>
                <a:latin typeface="Calibri"/>
              </a:rPr>
              <a:t>Founder  </a:t>
            </a:r>
            <a:r>
              <a:rPr lang="en-US" altLang="zh-CN" sz="1000" b="0" i="0" dirty="0">
                <a:solidFill>
                  <a:srgbClr val="A8B4C8"/>
                </a:solidFill>
                <a:latin typeface="Calibri"/>
              </a:rPr>
              <a:t>Xiong </a:t>
            </a:r>
            <a:r>
              <a:rPr lang="en-US" altLang="zh-CN" sz="1000" b="0" i="0" dirty="0" err="1">
                <a:solidFill>
                  <a:srgbClr val="A8B4C8"/>
                </a:solidFill>
                <a:latin typeface="Calibri"/>
              </a:rPr>
              <a:t>Xiaoya</a:t>
            </a:r>
            <a:endParaRPr sz="1000" b="0" i="0" dirty="0">
              <a:solidFill>
                <a:srgbClr val="A8B4C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What We Are — And What We're Not</a:t>
            </a:r>
          </a:p>
          <a:p>
            <a:pPr>
              <a:spcBef>
                <a:spcPts val="200"/>
              </a:spcBef>
            </a:pPr>
            <a:r>
              <a:rPr sz="2600" b="1" i="0">
                <a:solidFill>
                  <a:srgbClr val="E8D48A"/>
                </a:solidFill>
                <a:latin typeface="Microsoft YaHei"/>
              </a:rPr>
              <a:t>我们是什么 — 不是什么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486400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 dirty="0">
                <a:solidFill>
                  <a:srgbClr val="FF6B6B"/>
                </a:solidFill>
                <a:latin typeface="Georgia"/>
              </a:rPr>
              <a:t>This is NOT…</a:t>
            </a:r>
          </a:p>
          <a:p>
            <a:pPr>
              <a:spcBef>
                <a:spcPts val="200"/>
              </a:spcBef>
            </a:pPr>
            <a:r>
              <a:rPr sz="2000" b="0" i="0" dirty="0" err="1">
                <a:solidFill>
                  <a:srgbClr val="FF6B6B"/>
                </a:solidFill>
                <a:latin typeface="Microsoft YaHei"/>
              </a:rPr>
              <a:t>我们不是</a:t>
            </a:r>
            <a:r>
              <a:rPr sz="2000" b="0" i="0" dirty="0">
                <a:solidFill>
                  <a:srgbClr val="FF6B6B"/>
                </a:solidFill>
                <a:latin typeface="Microsoft YaHei"/>
              </a:rPr>
              <a:t>……</a:t>
            </a:r>
          </a:p>
          <a:p>
            <a:pPr>
              <a:spcBef>
                <a:spcPts val="1400"/>
              </a:spcBef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✕  A tutoring club</a:t>
            </a:r>
          </a:p>
          <a:p>
            <a:pPr>
              <a:spcBef>
                <a:spcPts val="200"/>
              </a:spcBef>
            </a:pPr>
            <a:r>
              <a:rPr sz="1400" b="0" i="0" dirty="0" err="1">
                <a:solidFill>
                  <a:srgbClr val="A8B4C8"/>
                </a:solidFill>
                <a:latin typeface="Microsoft YaHei"/>
              </a:rPr>
              <a:t>补课班</a:t>
            </a:r>
            <a:endParaRPr sz="1400" b="0" i="0" dirty="0">
              <a:solidFill>
                <a:srgbClr val="A8B4C8"/>
              </a:solidFill>
              <a:latin typeface="Microsoft YaHei"/>
            </a:endParaRPr>
          </a:p>
          <a:p>
            <a:pPr>
              <a:spcBef>
                <a:spcPts val="1400"/>
              </a:spcBef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✕  Past-paper drilling</a:t>
            </a:r>
          </a:p>
          <a:p>
            <a:pPr>
              <a:spcBef>
                <a:spcPts val="200"/>
              </a:spcBef>
            </a:pPr>
            <a:r>
              <a:rPr sz="1400" b="0" i="0" dirty="0" err="1">
                <a:solidFill>
                  <a:srgbClr val="A8B4C8"/>
                </a:solidFill>
                <a:latin typeface="Microsoft YaHei"/>
              </a:rPr>
              <a:t>刷题训练</a:t>
            </a:r>
            <a:endParaRPr sz="1400" b="0" i="0" dirty="0">
              <a:solidFill>
                <a:srgbClr val="A8B4C8"/>
              </a:solidFill>
              <a:latin typeface="Microsoft YaHei"/>
            </a:endParaRPr>
          </a:p>
          <a:p>
            <a:pPr>
              <a:spcBef>
                <a:spcPts val="1400"/>
              </a:spcBef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✕  Competition sprint camp</a:t>
            </a:r>
          </a:p>
          <a:p>
            <a:pPr>
              <a:spcBef>
                <a:spcPts val="200"/>
              </a:spcBef>
            </a:pPr>
            <a:r>
              <a:rPr sz="1400" b="0" i="0" dirty="0" err="1">
                <a:solidFill>
                  <a:srgbClr val="A8B4C8"/>
                </a:solidFill>
                <a:latin typeface="Microsoft YaHei"/>
              </a:rPr>
              <a:t>竞赛冲刺营</a:t>
            </a:r>
            <a:endParaRPr sz="1400" b="0" i="0" dirty="0">
              <a:solidFill>
                <a:srgbClr val="A8B4C8"/>
              </a:solidFill>
              <a:latin typeface="Microsoft YaHei"/>
            </a:endParaRPr>
          </a:p>
          <a:p>
            <a:pPr>
              <a:spcBef>
                <a:spcPts val="1400"/>
              </a:spcBef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✕  Experts-only discussions</a:t>
            </a:r>
          </a:p>
          <a:p>
            <a:pPr>
              <a:spcBef>
                <a:spcPts val="200"/>
              </a:spcBef>
            </a:pPr>
            <a:r>
              <a:rPr sz="1400" b="0" i="0" dirty="0" err="1">
                <a:solidFill>
                  <a:srgbClr val="A8B4C8"/>
                </a:solidFill>
                <a:latin typeface="Microsoft YaHei"/>
              </a:rPr>
              <a:t>只有学霸才能说话</a:t>
            </a:r>
            <a:endParaRPr sz="1100" b="0" i="0" dirty="0">
              <a:solidFill>
                <a:srgbClr val="A8B4C8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0" y="1234440"/>
            <a:ext cx="5486400" cy="2826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 dirty="0">
                <a:solidFill>
                  <a:srgbClr val="4ECDC4"/>
                </a:solidFill>
                <a:latin typeface="Georgia"/>
              </a:rPr>
              <a:t>This IS…</a:t>
            </a:r>
          </a:p>
          <a:p>
            <a:pPr>
              <a:spcBef>
                <a:spcPts val="200"/>
              </a:spcBef>
            </a:pPr>
            <a:r>
              <a:rPr sz="2000" b="0" i="0" dirty="0" err="1">
                <a:solidFill>
                  <a:srgbClr val="4ECDC4"/>
                </a:solidFill>
                <a:latin typeface="Microsoft YaHei"/>
              </a:rPr>
              <a:t>我们是</a:t>
            </a:r>
            <a:r>
              <a:rPr sz="2000" b="0" i="0" dirty="0">
                <a:solidFill>
                  <a:srgbClr val="4ECDC4"/>
                </a:solidFill>
                <a:latin typeface="Microsoft YaHei"/>
              </a:rPr>
              <a:t>……</a:t>
            </a:r>
          </a:p>
          <a:p>
            <a:pPr>
              <a:spcBef>
                <a:spcPts val="1400"/>
              </a:spcBef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✓  Storytelling —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maths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with a plot</a:t>
            </a:r>
          </a:p>
          <a:p>
            <a:pPr>
              <a:spcBef>
                <a:spcPts val="200"/>
              </a:spcBef>
            </a:pPr>
            <a:r>
              <a:rPr sz="1400" b="0" i="0" dirty="0" err="1">
                <a:solidFill>
                  <a:srgbClr val="A8B4C8"/>
                </a:solidFill>
                <a:latin typeface="Microsoft YaHei"/>
              </a:rPr>
              <a:t>讲故事</a:t>
            </a:r>
            <a:r>
              <a:rPr sz="1400" b="0" i="0" dirty="0">
                <a:solidFill>
                  <a:srgbClr val="A8B4C8"/>
                </a:solidFill>
                <a:latin typeface="Microsoft YaHei"/>
              </a:rPr>
              <a:t> — </a:t>
            </a:r>
            <a:r>
              <a:rPr sz="1400" b="0" i="0" dirty="0" err="1">
                <a:solidFill>
                  <a:srgbClr val="A8B4C8"/>
                </a:solidFill>
                <a:latin typeface="Microsoft YaHei"/>
              </a:rPr>
              <a:t>有情节的数学</a:t>
            </a:r>
            <a:endParaRPr sz="1400" b="0" i="0" dirty="0">
              <a:solidFill>
                <a:srgbClr val="A8B4C8"/>
              </a:solidFill>
              <a:latin typeface="Microsoft YaHei"/>
            </a:endParaRPr>
          </a:p>
          <a:p>
            <a:pPr>
              <a:spcBef>
                <a:spcPts val="1400"/>
              </a:spcBef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✓  Open discussion &amp; debate</a:t>
            </a:r>
          </a:p>
          <a:p>
            <a:pPr>
              <a:spcBef>
                <a:spcPts val="200"/>
              </a:spcBef>
            </a:pPr>
            <a:r>
              <a:rPr sz="1400" b="0" i="0" dirty="0" err="1">
                <a:solidFill>
                  <a:srgbClr val="A8B4C8"/>
                </a:solidFill>
                <a:latin typeface="Microsoft YaHei"/>
              </a:rPr>
              <a:t>开放讨论与辩论</a:t>
            </a:r>
            <a:endParaRPr sz="1400" b="0" i="0" dirty="0">
              <a:solidFill>
                <a:srgbClr val="A8B4C8"/>
              </a:solidFill>
              <a:latin typeface="Microsoft YaHei"/>
            </a:endParaRPr>
          </a:p>
          <a:p>
            <a:pPr>
              <a:spcBef>
                <a:spcPts val="1400"/>
              </a:spcBef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✓  All levels welcome — curiosity counts</a:t>
            </a:r>
          </a:p>
          <a:p>
            <a:pPr>
              <a:spcBef>
                <a:spcPts val="200"/>
              </a:spcBef>
            </a:pPr>
            <a:r>
              <a:rPr sz="1400" b="0" i="0" dirty="0" err="1">
                <a:solidFill>
                  <a:srgbClr val="A8B4C8"/>
                </a:solidFill>
                <a:latin typeface="Microsoft YaHei"/>
              </a:rPr>
              <a:t>各种基础都欢迎</a:t>
            </a:r>
            <a:r>
              <a:rPr sz="1400" b="0" i="0" dirty="0">
                <a:solidFill>
                  <a:srgbClr val="A8B4C8"/>
                </a:solidFill>
                <a:latin typeface="Microsoft YaHei"/>
              </a:rPr>
              <a:t> — </a:t>
            </a:r>
            <a:r>
              <a:rPr sz="1400" b="0" i="0" dirty="0" err="1">
                <a:solidFill>
                  <a:srgbClr val="A8B4C8"/>
                </a:solidFill>
                <a:latin typeface="Microsoft YaHei"/>
              </a:rPr>
              <a:t>好奇心就够了</a:t>
            </a:r>
            <a:endParaRPr sz="1100" b="0" i="0" dirty="0">
              <a:solidFill>
                <a:srgbClr val="A8B4C8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E8D48A"/>
                </a:solidFill>
                <a:latin typeface="Calibri"/>
              </a:rPr>
              <a:t>No Further Maths required. Just bring your questions.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4ECDC4"/>
                </a:solidFill>
                <a:latin typeface="Microsoft YaHei"/>
              </a:rPr>
              <a:t>不要求 Further Maths。带上你的问题来就好。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Goals &amp; Content</a:t>
            </a:r>
          </a:p>
          <a:p>
            <a:pPr>
              <a:spcBef>
                <a:spcPts val="200"/>
              </a:spcBef>
            </a:pPr>
            <a:r>
              <a:rPr sz="2600" b="1" i="0">
                <a:solidFill>
                  <a:srgbClr val="E8D48A"/>
                </a:solidFill>
                <a:latin typeface="Microsoft YaHei"/>
              </a:rPr>
              <a:t>社团目标与主要内容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33BDF-31CB-8EB7-6CB7-D2F6AEE3A32F}"/>
              </a:ext>
            </a:extLst>
          </p:cNvPr>
          <p:cNvSpPr txBox="1"/>
          <p:nvPr/>
        </p:nvSpPr>
        <p:spPr>
          <a:xfrm>
            <a:off x="457200" y="1417320"/>
            <a:ext cx="5486400" cy="326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 dirty="0">
                <a:solidFill>
                  <a:srgbClr val="C9A227"/>
                </a:solidFill>
                <a:latin typeface="Calibri"/>
              </a:rPr>
              <a:t>MAIN GOALS  </a:t>
            </a:r>
            <a:r>
              <a:rPr sz="1100" b="1" i="0" dirty="0" err="1">
                <a:solidFill>
                  <a:srgbClr val="C9A227"/>
                </a:solidFill>
                <a:latin typeface="Calibri"/>
              </a:rPr>
              <a:t>核心目标</a:t>
            </a:r>
            <a:endParaRPr sz="1100" b="1" i="0" dirty="0">
              <a:solidFill>
                <a:srgbClr val="C9A227"/>
              </a:solidFill>
              <a:latin typeface="Calibri"/>
            </a:endParaRP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Trace the origins of ideas ·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追溯数学思想的起源</a:t>
            </a:r>
            <a:endParaRPr sz="1600" b="1" dirty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100" b="0" dirty="0">
                <a:solidFill>
                  <a:srgbClr val="A8B4C8"/>
                </a:solidFill>
                <a:latin typeface="Calibri"/>
              </a:rPr>
              <a:t>Understand why theorems emerged — not just what they say.</a:t>
            </a:r>
          </a:p>
          <a:p>
            <a:pPr>
              <a:spcBef>
                <a:spcPts val="100"/>
              </a:spcBef>
            </a:pPr>
            <a:r>
              <a:rPr sz="1100" b="0" dirty="0" err="1">
                <a:solidFill>
                  <a:srgbClr val="EEF1F6"/>
                </a:solidFill>
                <a:latin typeface="Microsoft YaHei"/>
              </a:rPr>
              <a:t>理解定理为何出现，而不只是记住结论</a:t>
            </a:r>
            <a:r>
              <a:rPr sz="1100" b="0" dirty="0">
                <a:solidFill>
                  <a:srgbClr val="EEF1F6"/>
                </a:solidFill>
                <a:latin typeface="Microsoft YaHei"/>
              </a:rPr>
              <a:t>。</a:t>
            </a: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Meet the minds behind the syllabus ·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认识大纲背后的数学家</a:t>
            </a:r>
            <a:endParaRPr sz="1600" b="1" dirty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100" b="0" dirty="0">
                <a:solidFill>
                  <a:srgbClr val="A8B4C8"/>
                </a:solidFill>
                <a:latin typeface="Calibri"/>
              </a:rPr>
              <a:t>From Newton and Gauss to Turing and </a:t>
            </a:r>
            <a:r>
              <a:rPr lang="en-US" altLang="zh-CN" sz="1100" b="0" dirty="0">
                <a:solidFill>
                  <a:srgbClr val="A8B4C8"/>
                </a:solidFill>
                <a:latin typeface="Calibri"/>
              </a:rPr>
              <a:t>Neumann</a:t>
            </a:r>
            <a:r>
              <a:rPr sz="1100" b="0" dirty="0">
                <a:solidFill>
                  <a:srgbClr val="A8B4C8"/>
                </a:solidFill>
                <a:latin typeface="Calibri"/>
              </a:rPr>
              <a:t>.</a:t>
            </a:r>
          </a:p>
          <a:p>
            <a:pPr>
              <a:spcBef>
                <a:spcPts val="100"/>
              </a:spcBef>
            </a:pPr>
            <a:r>
              <a:rPr sz="1100" b="0" dirty="0">
                <a:solidFill>
                  <a:srgbClr val="EEF1F6"/>
                </a:solidFill>
                <a:latin typeface="Microsoft YaHei"/>
              </a:rPr>
              <a:t>从 </a:t>
            </a:r>
            <a:r>
              <a:rPr lang="zh-CN" altLang="en-US" sz="1100" dirty="0">
                <a:solidFill>
                  <a:srgbClr val="EEF1F6"/>
                </a:solidFill>
                <a:latin typeface="Microsoft YaHei"/>
              </a:rPr>
              <a:t>牛顿、高斯</a:t>
            </a:r>
            <a:r>
              <a:rPr sz="1100" b="0" dirty="0">
                <a:solidFill>
                  <a:srgbClr val="EEF1F6"/>
                </a:solidFill>
                <a:latin typeface="Microsoft YaHei"/>
              </a:rPr>
              <a:t>到 </a:t>
            </a:r>
            <a:r>
              <a:rPr lang="zh-CN" altLang="en-US" sz="1100" b="0" dirty="0">
                <a:solidFill>
                  <a:srgbClr val="EEF1F6"/>
                </a:solidFill>
                <a:latin typeface="Microsoft YaHei"/>
              </a:rPr>
              <a:t>图灵</a:t>
            </a:r>
            <a:r>
              <a:rPr sz="1100" b="0" dirty="0">
                <a:solidFill>
                  <a:srgbClr val="EEF1F6"/>
                </a:solidFill>
                <a:latin typeface="Microsoft YaHei"/>
              </a:rPr>
              <a:t>、</a:t>
            </a:r>
            <a:r>
              <a:rPr lang="zh-CN" altLang="en-US" sz="1100" b="0" dirty="0">
                <a:solidFill>
                  <a:srgbClr val="EEF1F6"/>
                </a:solidFill>
                <a:latin typeface="Microsoft YaHei"/>
              </a:rPr>
              <a:t>冯诺依曼</a:t>
            </a:r>
            <a:r>
              <a:rPr sz="1100" b="0" dirty="0">
                <a:solidFill>
                  <a:srgbClr val="EEF1F6"/>
                </a:solidFill>
                <a:latin typeface="Microsoft YaHei"/>
              </a:rPr>
              <a:t>。</a:t>
            </a: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Think, discuss, and present ·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思辨、讨论与展示</a:t>
            </a:r>
            <a:endParaRPr sz="1600" b="1" dirty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100" b="0" dirty="0">
                <a:solidFill>
                  <a:srgbClr val="A8B4C8"/>
                </a:solidFill>
                <a:latin typeface="Calibri"/>
              </a:rPr>
              <a:t>Build logic and communication.</a:t>
            </a:r>
          </a:p>
          <a:p>
            <a:pPr>
              <a:spcBef>
                <a:spcPts val="100"/>
              </a:spcBef>
            </a:pPr>
            <a:r>
              <a:rPr sz="1100" b="0" dirty="0" err="1">
                <a:solidFill>
                  <a:srgbClr val="EEF1F6"/>
                </a:solidFill>
                <a:latin typeface="Microsoft YaHei"/>
              </a:rPr>
              <a:t>锻炼逻辑与表达能力</a:t>
            </a:r>
            <a:r>
              <a:rPr sz="1100" b="0" dirty="0">
                <a:solidFill>
                  <a:srgbClr val="EEF1F6"/>
                </a:solidFill>
                <a:latin typeface="Microsoft YaHei"/>
              </a:rPr>
              <a:t>。</a:t>
            </a: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Connect Pure, Mechanics &amp; Statistics ·</a:t>
            </a:r>
            <a:r>
              <a:rPr lang="zh-CN" altLang="en-US" sz="1600" b="1" dirty="0">
                <a:solidFill>
                  <a:srgbClr val="FFFFFF"/>
                </a:solidFill>
                <a:latin typeface="Calibri"/>
              </a:rPr>
              <a:t> 把数学融会贯通</a:t>
            </a:r>
            <a:endParaRPr lang="zh-HK" altLang="en-US" sz="1600" b="1" dirty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lang="en-US" sz="1100" b="0" dirty="0">
                <a:solidFill>
                  <a:srgbClr val="A8B4C8"/>
                </a:solidFill>
                <a:latin typeface="Calibri"/>
              </a:rPr>
              <a:t>See mathematics as one evolving story.</a:t>
            </a:r>
          </a:p>
          <a:p>
            <a:pPr>
              <a:spcBef>
                <a:spcPts val="100"/>
              </a:spcBef>
            </a:pPr>
            <a:r>
              <a:rPr sz="1100" b="0" dirty="0" err="1">
                <a:solidFill>
                  <a:srgbClr val="EEF1F6"/>
                </a:solidFill>
                <a:latin typeface="Microsoft YaHei"/>
              </a:rPr>
              <a:t>把数学看作一部不断演进的历史</a:t>
            </a:r>
            <a:r>
              <a:rPr sz="1100" b="0" dirty="0">
                <a:solidFill>
                  <a:srgbClr val="EEF1F6"/>
                </a:solidFill>
                <a:latin typeface="Microsoft YaHei"/>
              </a:rPr>
              <a:t>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BAF783-F6C3-C6F2-897E-052B029D6F59}"/>
              </a:ext>
            </a:extLst>
          </p:cNvPr>
          <p:cNvSpPr txBox="1"/>
          <p:nvPr/>
        </p:nvSpPr>
        <p:spPr>
          <a:xfrm>
            <a:off x="5974080" y="1417320"/>
            <a:ext cx="5760720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 dirty="0">
                <a:solidFill>
                  <a:srgbClr val="C9A227"/>
                </a:solidFill>
                <a:latin typeface="Calibri"/>
              </a:rPr>
              <a:t>WHAT WE DO  </a:t>
            </a:r>
            <a:r>
              <a:rPr sz="1100" b="1" i="0" dirty="0" err="1">
                <a:solidFill>
                  <a:srgbClr val="C9A227"/>
                </a:solidFill>
                <a:latin typeface="Calibri"/>
              </a:rPr>
              <a:t>活动内容</a:t>
            </a:r>
            <a:endParaRPr sz="1100" b="1" i="0" dirty="0">
              <a:solidFill>
                <a:srgbClr val="C9A227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Spotlight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人物聚焦</a:t>
            </a:r>
            <a:endParaRPr sz="1600" b="1" dirty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100"/>
              </a:spcBef>
            </a:pPr>
            <a:r>
              <a:rPr sz="1100" b="0" dirty="0">
                <a:solidFill>
                  <a:srgbClr val="A8B4C8"/>
                </a:solidFill>
                <a:latin typeface="Calibri"/>
              </a:rPr>
              <a:t>Life &amp; legacy of one mathematician</a:t>
            </a:r>
          </a:p>
          <a:p>
            <a:pPr>
              <a:spcBef>
                <a:spcPts val="0"/>
              </a:spcBef>
            </a:pPr>
            <a:r>
              <a:rPr sz="1100" b="0" dirty="0" err="1">
                <a:solidFill>
                  <a:srgbClr val="EEF1F6"/>
                </a:solidFill>
                <a:latin typeface="Microsoft YaHei"/>
              </a:rPr>
              <a:t>一位数学家的生平与贡献</a:t>
            </a:r>
            <a:endParaRPr sz="1100" b="0" dirty="0">
              <a:solidFill>
                <a:srgbClr val="EEF1F6"/>
              </a:solidFill>
              <a:latin typeface="Microsoft YaHei"/>
            </a:endParaRPr>
          </a:p>
          <a:p>
            <a:pPr>
              <a:spcBef>
                <a:spcPts val="800"/>
              </a:spcBef>
            </a:pPr>
            <a:endParaRPr lang="en-US" sz="1600" b="1" dirty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Origins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理论溯源</a:t>
            </a:r>
            <a:endParaRPr sz="1600" b="1" dirty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100"/>
              </a:spcBef>
            </a:pPr>
            <a:r>
              <a:rPr sz="1100" b="0" dirty="0">
                <a:solidFill>
                  <a:srgbClr val="A8B4C8"/>
                </a:solidFill>
                <a:latin typeface="Calibri"/>
              </a:rPr>
              <a:t>How ideas were born — and debated</a:t>
            </a:r>
          </a:p>
          <a:p>
            <a:pPr>
              <a:spcBef>
                <a:spcPts val="0"/>
              </a:spcBef>
            </a:pPr>
            <a:r>
              <a:rPr sz="1100" b="0" dirty="0" err="1">
                <a:solidFill>
                  <a:srgbClr val="EEF1F6"/>
                </a:solidFill>
                <a:latin typeface="Microsoft YaHei"/>
              </a:rPr>
              <a:t>理论如何诞生，争议如何发生</a:t>
            </a:r>
            <a:endParaRPr sz="1100" b="0" dirty="0">
              <a:solidFill>
                <a:srgbClr val="EEF1F6"/>
              </a:solidFill>
              <a:latin typeface="Microsoft YaHei"/>
            </a:endParaRPr>
          </a:p>
          <a:p>
            <a:pPr>
              <a:spcBef>
                <a:spcPts val="800"/>
              </a:spcBef>
            </a:pPr>
            <a:endParaRPr lang="en-US" sz="1600" b="1" dirty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Deep Dives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主题深潜</a:t>
            </a:r>
            <a:endParaRPr sz="1600" b="1" dirty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100"/>
              </a:spcBef>
            </a:pPr>
            <a:r>
              <a:rPr sz="1100" b="0" dirty="0">
                <a:solidFill>
                  <a:srgbClr val="A8B4C8"/>
                </a:solidFill>
                <a:latin typeface="Calibri"/>
              </a:rPr>
              <a:t>Infinity, primes, codes…</a:t>
            </a:r>
          </a:p>
          <a:p>
            <a:pPr>
              <a:spcBef>
                <a:spcPts val="0"/>
              </a:spcBef>
            </a:pPr>
            <a:r>
              <a:rPr sz="1100" b="0" dirty="0" err="1">
                <a:solidFill>
                  <a:srgbClr val="EEF1F6"/>
                </a:solidFill>
                <a:latin typeface="Microsoft YaHei"/>
              </a:rPr>
              <a:t>无穷、质数、密码学</a:t>
            </a:r>
            <a:r>
              <a:rPr sz="1100" b="0" dirty="0">
                <a:solidFill>
                  <a:srgbClr val="EEF1F6"/>
                </a:solidFill>
                <a:latin typeface="Microsoft YaHei"/>
              </a:rPr>
              <a:t>……</a:t>
            </a:r>
          </a:p>
          <a:p>
            <a:pPr>
              <a:spcBef>
                <a:spcPts val="800"/>
              </a:spcBef>
            </a:pPr>
            <a:endParaRPr lang="en-US" sz="1600" b="1" dirty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Media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拓展阅读</a:t>
            </a:r>
            <a:endParaRPr sz="1600" b="1" dirty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100"/>
              </a:spcBef>
            </a:pPr>
            <a:r>
              <a:rPr sz="1100" b="0" dirty="0">
                <a:solidFill>
                  <a:srgbClr val="A8B4C8"/>
                </a:solidFill>
                <a:latin typeface="Calibri"/>
              </a:rPr>
              <a:t>Biographies, films, classic problems</a:t>
            </a:r>
          </a:p>
          <a:p>
            <a:pPr>
              <a:spcBef>
                <a:spcPts val="0"/>
              </a:spcBef>
            </a:pPr>
            <a:r>
              <a:rPr sz="1100" b="0" dirty="0" err="1">
                <a:solidFill>
                  <a:srgbClr val="EEF1F6"/>
                </a:solidFill>
                <a:latin typeface="Microsoft YaHei"/>
              </a:rPr>
              <a:t>传记、纪录片、经典难题</a:t>
            </a:r>
            <a:endParaRPr sz="1100" b="0" dirty="0">
              <a:solidFill>
                <a:srgbClr val="EEF1F6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92840" y="2577485"/>
            <a:ext cx="6575839" cy="8515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 dirty="0">
                <a:solidFill>
                  <a:srgbClr val="FFFFFF"/>
                </a:solidFill>
                <a:latin typeface="Georgia"/>
              </a:rPr>
              <a:t>Curious about mathematics? Join E⁵.</a:t>
            </a:r>
          </a:p>
          <a:p>
            <a:pPr algn="ctr">
              <a:spcBef>
                <a:spcPts val="400"/>
              </a:spcBef>
            </a:pPr>
            <a:r>
              <a:rPr sz="2000" b="1" i="0" dirty="0" err="1">
                <a:solidFill>
                  <a:srgbClr val="4ECDC4"/>
                </a:solidFill>
                <a:latin typeface="Microsoft YaHei"/>
              </a:rPr>
              <a:t>对数学好奇？加入</a:t>
            </a:r>
            <a:r>
              <a:rPr sz="2000" b="1" i="0" dirty="0">
                <a:solidFill>
                  <a:srgbClr val="4ECDC4"/>
                </a:solidFill>
                <a:latin typeface="Microsoft YaHei"/>
              </a:rPr>
              <a:t> E⁵ </a:t>
            </a:r>
            <a:r>
              <a:rPr sz="2000" b="1" i="0" dirty="0" err="1">
                <a:solidFill>
                  <a:srgbClr val="4ECDC4"/>
                </a:solidFill>
                <a:latin typeface="Microsoft YaHei"/>
              </a:rPr>
              <a:t>数学社</a:t>
            </a:r>
            <a:r>
              <a:rPr sz="2000" b="1" i="0" dirty="0">
                <a:solidFill>
                  <a:srgbClr val="4ECDC4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332</Words>
  <Application>Microsoft Office PowerPoint</Application>
  <PresentationFormat>Widescreen</PresentationFormat>
  <Paragraphs>82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Microsoft YaHei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Yuanshan Mi (Nokia)</cp:lastModifiedBy>
  <cp:revision>3</cp:revision>
  <dcterms:created xsi:type="dcterms:W3CDTF">2013-01-27T09:14:16Z</dcterms:created>
  <dcterms:modified xsi:type="dcterms:W3CDTF">2026-09-07T13:48:20Z</dcterms:modified>
  <cp:category/>
</cp:coreProperties>
</file>